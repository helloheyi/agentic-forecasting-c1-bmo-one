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1A1A"/>
                </a:solidFill>
                <a:latin typeface="Calibri"/>
              </a:rPr>
              <a:t>LightGBM Tuning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555555"/>
                </a:solidFill>
                <a:latin typeface="Calibri"/>
              </a:rPr>
              <a:t>LIGHTGBM_MODE x LGBM_TUNING_MODE  —  01_BAA10Y_multivariate_backtest.ipynb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1. Overview — LIGHTGBM_MODE decides which predictors run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727448" y="777240"/>
            <a:ext cx="2743200" cy="548640"/>
          </a:xfrm>
          <a:prstGeom prst="roundRect">
            <a:avLst/>
          </a:prstGeom>
          <a:solidFill>
            <a:srgbClr val="D5F5E3"/>
          </a:solidFill>
          <a:ln w="19050">
            <a:solidFill>
              <a:srgbClr val="1E8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Run tuning cell (Section 4)</a:t>
            </a:r>
          </a:p>
        </p:txBody>
      </p:sp>
      <p:sp>
        <p:nvSpPr>
          <p:cNvPr id="4" name="Diamond 3"/>
          <p:cNvSpPr/>
          <p:nvPr/>
        </p:nvSpPr>
        <p:spPr>
          <a:xfrm>
            <a:off x="4727448" y="1508760"/>
            <a:ext cx="2743200" cy="914400"/>
          </a:xfrm>
          <a:prstGeom prst="diamond">
            <a:avLst/>
          </a:prstGeom>
          <a:solidFill>
            <a:srgbClr val="FCF3CF"/>
          </a:solidFill>
          <a:ln w="19050">
            <a:solidFill>
              <a:srgbClr val="C28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LIGHTGBM_MODE?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834640"/>
            <a:ext cx="3291840" cy="100584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21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vanilla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977639"/>
            <a:ext cx="3291840" cy="914400"/>
          </a:xfrm>
          <a:prstGeom prst="rect">
            <a:avLst/>
          </a:prstGeom>
          <a:solidFill>
            <a:srgbClr val="D6EAF8"/>
          </a:solidFill>
          <a:ln w="19050">
            <a:solidFill>
              <a:srgbClr val="21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Skip tuning entirely.</a:t>
            </a:r>
          </a:p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Keep lightgbm / lightgbm_cov as-is.</a:t>
            </a:r>
          </a:p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(LGBM_TUNING_MODE is ignored)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834640"/>
            <a:ext cx="3931920" cy="64008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21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tuned  or  both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3611880"/>
            <a:ext cx="3931920" cy="822960"/>
          </a:xfrm>
          <a:prstGeom prst="rect">
            <a:avLst/>
          </a:prstGeom>
          <a:solidFill>
            <a:srgbClr val="D6EAF8"/>
          </a:solidFill>
          <a:ln w="19050">
            <a:solidFill>
              <a:srgbClr val="21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Run tuning workflow</a:t>
            </a:r>
          </a:p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(see Slide 3 for LGBM_TUNING_MODE detail)</a:t>
            </a:r>
          </a:p>
        </p:txBody>
      </p:sp>
      <p:sp>
        <p:nvSpPr>
          <p:cNvPr id="9" name="Diamond 8"/>
          <p:cNvSpPr/>
          <p:nvPr/>
        </p:nvSpPr>
        <p:spPr>
          <a:xfrm>
            <a:off x="8074152" y="4617720"/>
            <a:ext cx="3291840" cy="914400"/>
          </a:xfrm>
          <a:prstGeom prst="diamond">
            <a:avLst/>
          </a:prstGeom>
          <a:solidFill>
            <a:srgbClr val="FCF3CF"/>
          </a:solidFill>
          <a:ln w="19050">
            <a:solidFill>
              <a:srgbClr val="C28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Which rows to keep?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5715000"/>
            <a:ext cx="2743200" cy="960120"/>
          </a:xfrm>
          <a:prstGeom prst="rect">
            <a:avLst/>
          </a:prstGeom>
          <a:solidFill>
            <a:srgbClr val="D6EAF8"/>
          </a:solidFill>
          <a:ln w="19050">
            <a:solidFill>
              <a:srgbClr val="21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tuned:</a:t>
            </a:r>
          </a:p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Drop vanilla rows.</a:t>
            </a:r>
          </a:p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Keep only lightgbm_tuned /</a:t>
            </a:r>
          </a:p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lightgbm_cov_tuned.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5715000"/>
            <a:ext cx="2743200" cy="960120"/>
          </a:xfrm>
          <a:prstGeom prst="rect">
            <a:avLst/>
          </a:prstGeom>
          <a:solidFill>
            <a:srgbClr val="D6EAF8"/>
          </a:solidFill>
          <a:ln w="19050">
            <a:solidFill>
              <a:srgbClr val="21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both:</a:t>
            </a:r>
          </a:p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Keep vanilla AND tuned.</a:t>
            </a:r>
          </a:p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4 LightGBM predictors</a:t>
            </a:r>
          </a:p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in all_predictors.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9048" y="1325880"/>
            <a:ext cx="0" cy="18288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103120" y="2423160"/>
            <a:ext cx="2898648" cy="41148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820924" y="2500884"/>
            <a:ext cx="14630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i="1">
                <a:solidFill>
                  <a:srgbClr val="444444"/>
                </a:solidFill>
                <a:latin typeface="Calibri"/>
              </a:rPr>
              <a:t>"vanilla"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96328" y="2423160"/>
            <a:ext cx="2542032" cy="41148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35823" y="2500884"/>
            <a:ext cx="14630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i="1">
                <a:solidFill>
                  <a:srgbClr val="444444"/>
                </a:solidFill>
                <a:latin typeface="Calibri"/>
              </a:rPr>
              <a:t>"tuned"/"both"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9720072" y="4434840"/>
            <a:ext cx="18288" cy="18288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2. Detail — LGBM_TUNING_MODE decides how the config is produced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727448" y="685800"/>
            <a:ext cx="2743200" cy="502920"/>
          </a:xfrm>
          <a:prstGeom prst="roundRect">
            <a:avLst/>
          </a:prstGeom>
          <a:solidFill>
            <a:srgbClr val="D5F5E3"/>
          </a:solidFill>
          <a:ln w="19050">
            <a:solidFill>
              <a:srgbClr val="1E8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Enter tuning workflow</a:t>
            </a:r>
          </a:p>
        </p:txBody>
      </p:sp>
      <p:sp>
        <p:nvSpPr>
          <p:cNvPr id="4" name="Diamond 3"/>
          <p:cNvSpPr/>
          <p:nvPr/>
        </p:nvSpPr>
        <p:spPr>
          <a:xfrm>
            <a:off x="4727448" y="1371600"/>
            <a:ext cx="2743200" cy="822960"/>
          </a:xfrm>
          <a:prstGeom prst="diamond">
            <a:avLst/>
          </a:prstGeom>
          <a:solidFill>
            <a:srgbClr val="FCF3CF"/>
          </a:solidFill>
          <a:ln w="19050">
            <a:solidFill>
              <a:srgbClr val="C28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LGBM_TUNING_MODE?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047" y="2514600"/>
            <a:ext cx="3291840" cy="1737360"/>
          </a:xfrm>
          <a:prstGeom prst="rect">
            <a:avLst/>
          </a:prstGeom>
          <a:solidFill>
            <a:srgbClr val="D6EAF8"/>
          </a:solidFill>
          <a:ln w="19050">
            <a:solidFill>
              <a:srgbClr val="21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scratch</a:t>
            </a:r>
          </a:p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1. Delete existing study (if any)</a:t>
            </a:r>
          </a:p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2. Create fresh study</a:t>
            </a:r>
          </a:p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3. Run full n_trials trials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49927" y="2514600"/>
            <a:ext cx="3291840" cy="1737360"/>
          </a:xfrm>
          <a:prstGeom prst="rect">
            <a:avLst/>
          </a:prstGeom>
          <a:solidFill>
            <a:srgbClr val="D6EAF8"/>
          </a:solidFill>
          <a:ln w="19050">
            <a:solidFill>
              <a:srgbClr val="21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reuse</a:t>
            </a:r>
          </a:p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1. Load existing study</a:t>
            </a:r>
          </a:p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2. No trials saved -&gt; raise</a:t>
            </a:r>
          </a:p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   ValueError (stop)</a:t>
            </a:r>
          </a:p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3. Else: use saved best,</a:t>
            </a:r>
          </a:p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   0 new trials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8061807" y="2514600"/>
            <a:ext cx="3291840" cy="1737360"/>
          </a:xfrm>
          <a:prstGeom prst="rect">
            <a:avLst/>
          </a:prstGeom>
          <a:solidFill>
            <a:srgbClr val="D6EAF8"/>
          </a:solidFill>
          <a:ln w="19050">
            <a:solidFill>
              <a:srgbClr val="21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resume</a:t>
            </a:r>
          </a:p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1. Load-or-create study</a:t>
            </a:r>
          </a:p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2. remaining = n_trials -</a:t>
            </a:r>
          </a:p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   trials already saved</a:t>
            </a:r>
          </a:p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3. Run `remaining` more</a:t>
            </a:r>
          </a:p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   trials (0 if already met)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5928" y="4754880"/>
            <a:ext cx="4206240" cy="822960"/>
          </a:xfrm>
          <a:prstGeom prst="rect">
            <a:avLst/>
          </a:prstGeom>
          <a:solidFill>
            <a:srgbClr val="D6EAF8"/>
          </a:solidFill>
          <a:ln w="19050">
            <a:solidFill>
              <a:srgbClr val="21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Take study.best_trial</a:t>
            </a:r>
          </a:p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-&gt; build lightgbm_tuned / lightgbm_cov_tuned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7448" y="5806440"/>
            <a:ext cx="2743200" cy="502920"/>
          </a:xfrm>
          <a:prstGeom prst="roundRect">
            <a:avLst/>
          </a:prstGeom>
          <a:solidFill>
            <a:srgbClr val="D5F5E3"/>
          </a:solidFill>
          <a:ln w="19050">
            <a:solidFill>
              <a:srgbClr val="1E8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Return to Slide 2 flow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9048" y="1188720"/>
            <a:ext cx="0" cy="18288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483967" y="2194560"/>
            <a:ext cx="2426361" cy="32004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965627" y="2226564"/>
            <a:ext cx="14630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i="1">
                <a:solidFill>
                  <a:srgbClr val="444444"/>
                </a:solidFill>
                <a:latin typeface="Calibri"/>
              </a:rPr>
              <a:t>"scratch"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6095847" y="2194560"/>
            <a:ext cx="3201" cy="32004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65927" y="2226564"/>
            <a:ext cx="14630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i="1">
                <a:solidFill>
                  <a:srgbClr val="444444"/>
                </a:solidFill>
                <a:latin typeface="Calibri"/>
              </a:rPr>
              <a:t>"reuse"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87768" y="2194560"/>
            <a:ext cx="2419959" cy="32004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66227" y="2226564"/>
            <a:ext cx="14630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i="1">
                <a:solidFill>
                  <a:srgbClr val="444444"/>
                </a:solidFill>
                <a:latin typeface="Calibri"/>
              </a:rPr>
              <a:t>"resume"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483967" y="4251960"/>
            <a:ext cx="2700681" cy="50292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95847" y="4251960"/>
            <a:ext cx="3201" cy="50292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013448" y="4251960"/>
            <a:ext cx="2694279" cy="50292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99048" y="5577840"/>
            <a:ext cx="0" cy="22860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